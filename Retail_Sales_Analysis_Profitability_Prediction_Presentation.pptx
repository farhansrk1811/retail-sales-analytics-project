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0BFA9"/>
            </a:solidFill>
          </c:spPr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145454.95</c:v>
                </c:pt>
                <c:pt idx="1">
                  <c:v>122490.8</c:v>
                </c:pt>
                <c:pt idx="2">
                  <c:v>18451.27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4C78D0"/>
            </a:solidFill>
          </c:spPr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South</c:v>
                </c:pt>
                <c:pt idx="3">
                  <c:v>Central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108418.45</c:v>
                </c:pt>
                <c:pt idx="1">
                  <c:v>91522.78</c:v>
                </c:pt>
                <c:pt idx="2">
                  <c:v>46749.43</c:v>
                </c:pt>
                <c:pt idx="3">
                  <c:v>39706.36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as an end-to-end retail analytics project covering data cleaning, KPI analysis, a Power BI dashboard and an exploratory profit prediction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difference between revenue and profit, and explain that the model is exploratory.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has 9,994 rows and 21 columns. Cleaning checks found no missing values or exact duplicate rows; all records were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was used for data understanding, cleaning, KPI analysis, charts and model evaluation. Power BI was used for the interactive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were $2,297,200.86, profit $286,397.02, aggregate margin 12.47%, 5,009 distinct orders, 793 customers and 37,873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generated about $145,455 profit and a 17.40% margin. Office Supplies generated about $122,491 and a 17.04% margin. Furniture profit was about $18,451 and margin 2.49%. West was the highest-profit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illustrative layout of the Power BI report. If possible, replace it with a screenshot of your actual dashboard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Forest MAE 27.49, RMSE 216.22 and R² 0.0358; baseline MAE 67.55 and R² -0.0021. MAE improved but R² remains weak. Be transparent about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are grounded in descriptive results. Do not claim the dataset proves causation. Discounts should be examined alongside product mix and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workflow and invite questions. Be ready to explain the 12.47% margin, the weak R-squared result, and the dashboard slicers.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4C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0"/>
            <a:ext cx="2862072" cy="6858000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83879" y="0"/>
            <a:ext cx="1188720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0BFA9"/>
                </a:solidFill>
                <a:latin typeface="Aptos"/>
              </a:defRPr>
            </a:pPr>
            <a:r>
              <a:t>REAL-WORLD DATA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132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Retail Sales Analysis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&amp; Profitability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8E2EE"/>
                </a:solidFill>
                <a:latin typeface="Aptos"/>
              </a:defRPr>
            </a:pPr>
            <a:r>
              <a:t>Business intelligence with Python, machine learning and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Presented by: Farhan Sirkhot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8E2EE"/>
                </a:solidFill>
                <a:latin typeface="Aptos"/>
              </a:defRPr>
            </a:pPr>
            <a:r>
              <a:t>Submission date: 5 November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4243A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4243A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4243A"/>
                </a:solidFill>
                <a:latin typeface="Aptos"/>
              </a:defRPr>
            </a:pPr>
            <a:r>
              <a:t>PREDICT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43A"/>
                </a:solidFill>
                <a:latin typeface="Aptos"/>
              </a:defRPr>
            </a:pPr>
            <a:r>
              <a:t>Business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Why retail performance needs more than sales totals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777240" cy="50292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C2B3D"/>
                </a:solidFill>
                <a:latin typeface="Aptos"/>
              </a:defRPr>
            </a:pPr>
            <a:r>
              <a:t>•  Retail businesses need to know which products, categories and regions contribute to revenue and profit.</a:t>
            </a:r>
          </a:p>
          <a:p>
            <a:pPr>
              <a:spcAft>
                <a:spcPts val="700"/>
              </a:spcAft>
              <a:defRPr sz="1900" b="0">
                <a:solidFill>
                  <a:srgbClr val="1C2B3D"/>
                </a:solidFill>
                <a:latin typeface="Aptos"/>
              </a:defRPr>
            </a:pPr>
            <a:r>
              <a:t>•  High sales do not always mean high profitability; discounts and product mix can affect profit.</a:t>
            </a:r>
          </a:p>
          <a:p>
            <a:pPr>
              <a:spcAft>
                <a:spcPts val="700"/>
              </a:spcAft>
              <a:defRPr sz="1900" b="0">
                <a:solidFill>
                  <a:srgbClr val="1C2B3D"/>
                </a:solidFill>
                <a:latin typeface="Aptos"/>
              </a:defRPr>
            </a:pPr>
            <a:r>
              <a:t>•  Build an interactive dashboard to monitor core performance indicators.</a:t>
            </a:r>
          </a:p>
          <a:p>
            <a:pPr>
              <a:spcAft>
                <a:spcPts val="700"/>
              </a:spcAft>
              <a:defRPr sz="1900" b="0">
                <a:solidFill>
                  <a:srgbClr val="1C2B3D"/>
                </a:solidFill>
                <a:latin typeface="Aptos"/>
              </a:defRPr>
            </a:pPr>
            <a:r>
              <a:t>•  Explore whether transaction and product attributes can help estimate order-line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43A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Sample - Superstore | Transaction-level retail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777240" cy="50292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325880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9,994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transaction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54480"/>
            <a:ext cx="73152" cy="1325880"/>
          </a:xfrm>
          <a:prstGeom prst="rect">
            <a:avLst/>
          </a:prstGeom>
          <a:solidFill>
            <a:srgbClr val="4C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099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2996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420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original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73152" cy="1325880"/>
          </a:xfrm>
          <a:prstGeom prst="rect">
            <a:avLst/>
          </a:prstGeom>
          <a:solidFill>
            <a:srgbClr val="8A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099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2996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5,009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420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distinct order IDs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5544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554480"/>
            <a:ext cx="73152" cy="1325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7099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02996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793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420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distinct customer 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43A"/>
                </a:solidFill>
                <a:latin typeface="Aptos"/>
              </a:defRPr>
            </a:pPr>
            <a:r>
              <a:t>Key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70332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Order/ship dates and geography</a:t>
            </a:r>
          </a:p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Category, sub-category, product and customer</a:t>
            </a:r>
          </a:p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Sales, quantity, discount and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43A"/>
                </a:solidFill>
                <a:latin typeface="Aptos"/>
              </a:defRPr>
            </a:pPr>
            <a:r>
              <a:t>Data quality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7033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Parsed order and ship dates</a:t>
            </a:r>
          </a:p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Checked missing values and duplicate rows</a:t>
            </a:r>
          </a:p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Validated sales, quantity and discount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43A"/>
                </a:solidFill>
                <a:latin typeface="Aptos"/>
              </a:defRPr>
            </a:pPr>
            <a:r>
              <a:t>Workflow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From raw data to 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777240" cy="50292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4C78D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43A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Profile data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192024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0BFA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43A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Validate dates and numeric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192024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8A79C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43A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Calculate KPIs and segments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52944" y="192024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4A26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43A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Build charts and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57232" y="192024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1824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DF6B6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4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43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1824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Compare baseline and 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4243A"/>
                </a:solidFill>
                <a:latin typeface="Aptos"/>
              </a:defRPr>
            </a:pPr>
            <a:r>
              <a:t>Python · pandas · NumPy · Matplotlib/Seaborn · scikit-learn ·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43A"/>
                </a:solidFill>
                <a:latin typeface="Aptos"/>
              </a:defRPr>
            </a:pPr>
            <a:r>
              <a:t>Executive 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Calculated from the cleaned Superstore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777240" cy="50292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325880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7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$2.297M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73152" cy="1325880"/>
          </a:xfrm>
          <a:prstGeom prst="rect">
            <a:avLst/>
          </a:prstGeom>
          <a:solidFill>
            <a:srgbClr val="4C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099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29967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$286.40K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4203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profit contribution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73152" cy="1325880"/>
          </a:xfrm>
          <a:prstGeom prst="rect">
            <a:avLst/>
          </a:prstGeom>
          <a:solidFill>
            <a:srgbClr val="8A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099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29967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12.47%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4203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profit ÷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375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337560"/>
            <a:ext cx="73152" cy="1325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130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5,009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2511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distinct orders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3375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337560"/>
            <a:ext cx="73152" cy="1325880"/>
          </a:xfrm>
          <a:prstGeom prst="rect">
            <a:avLst/>
          </a:prstGeom>
          <a:solidFill>
            <a:srgbClr val="D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8130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793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32511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distinct customers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3375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337560"/>
            <a:ext cx="73152" cy="1325880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81304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37,873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2511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total quantity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47589"/>
                </a:solidFill>
                <a:latin typeface="Aptos"/>
              </a:defRPr>
            </a:pPr>
            <a:r>
              <a:t>Margin = total profit ÷ total sales. Use distinct counts for orders and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43A"/>
                </a:solidFill>
                <a:latin typeface="Aptos"/>
              </a:defRPr>
            </a:pPr>
            <a:r>
              <a:t>Category &amp; 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Revenue and profit are not evenly distributed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777240" cy="50292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43A"/>
                </a:solidFill>
                <a:latin typeface="Aptos"/>
              </a:defRPr>
            </a:pPr>
            <a:r>
              <a:t>Profit by Category (USD)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737360"/>
          <a:ext cx="52120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43A"/>
                </a:solidFill>
                <a:latin typeface="Aptos"/>
              </a:defRPr>
            </a:pPr>
            <a:r>
              <a:t>Profit by Region (USD)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09360" y="1737360"/>
          <a:ext cx="512064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4864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43A"/>
                </a:solidFill>
                <a:latin typeface="Aptos"/>
              </a:defRPr>
            </a:pPr>
            <a:r>
              <a:t>Technology leads category profit; Furniture has a much thinner margin (about 2.49%).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43A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Interactive reporting for 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777240" cy="50292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43A"/>
                </a:solidFill>
                <a:latin typeface="Aptos"/>
              </a:defRPr>
            </a:pPr>
            <a:r>
              <a:t>RETAIL SALES &amp; PROFITABILITY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965960"/>
            <a:ext cx="15361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965960"/>
            <a:ext cx="73152" cy="1325880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2140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41448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$2.30M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53512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2679191" y="1965960"/>
            <a:ext cx="15361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1" y="1965960"/>
            <a:ext cx="73152" cy="1325880"/>
          </a:xfrm>
          <a:prstGeom prst="rect">
            <a:avLst/>
          </a:prstGeom>
          <a:solidFill>
            <a:srgbClr val="4C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12140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441448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$286.4K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2953512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398264" y="1965960"/>
            <a:ext cx="15361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8264" y="1965960"/>
            <a:ext cx="73152" cy="1325880"/>
          </a:xfrm>
          <a:prstGeom prst="rect">
            <a:avLst/>
          </a:prstGeom>
          <a:solidFill>
            <a:srgbClr val="8A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212140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441448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12.47%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953512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117336" y="1965960"/>
            <a:ext cx="15361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7336" y="1965960"/>
            <a:ext cx="73152" cy="1325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212140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2441448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5,009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2953512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7836408" y="1965960"/>
            <a:ext cx="15361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36408" y="1965960"/>
            <a:ext cx="73152" cy="1325880"/>
          </a:xfrm>
          <a:prstGeom prst="rect">
            <a:avLst/>
          </a:prstGeom>
          <a:solidFill>
            <a:srgbClr val="D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9288" y="212140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2441448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793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2953512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9555480" y="1965960"/>
            <a:ext cx="15361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55480" y="1965960"/>
            <a:ext cx="73152" cy="1325880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212140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UNITS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2441448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37,873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59" y="2953512"/>
            <a:ext cx="1261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960120" y="3520440"/>
            <a:ext cx="4800600" cy="868680"/>
          </a:xfrm>
          <a:prstGeom prst="roundRect">
            <a:avLst/>
          </a:prstGeom>
          <a:solidFill>
            <a:srgbClr val="F2F5F9"/>
          </a:solidFill>
          <a:ln>
            <a:solidFill>
              <a:srgbClr val="20B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648456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43A"/>
                </a:solidFill>
                <a:latin typeface="Aptos"/>
              </a:defRPr>
            </a:pPr>
            <a:r>
              <a:t>Monthly Sales 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3959352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0BFA9"/>
                </a:solidFill>
                <a:latin typeface="Aptos"/>
              </a:defRPr>
            </a:pPr>
            <a:r>
              <a:t>──────  ─────  ─────────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3520440"/>
            <a:ext cx="4754880" cy="868680"/>
          </a:xfrm>
          <a:prstGeom prst="roundRect">
            <a:avLst/>
          </a:prstGeom>
          <a:solidFill>
            <a:srgbClr val="F2F5F9"/>
          </a:solidFill>
          <a:ln>
            <a:solidFill>
              <a:srgbClr val="4C7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64845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43A"/>
                </a:solidFill>
                <a:latin typeface="Aptos"/>
              </a:defRPr>
            </a:pPr>
            <a:r>
              <a:t>Sales by Category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9593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C78D0"/>
                </a:solidFill>
                <a:latin typeface="Aptos"/>
              </a:defRPr>
            </a:pPr>
            <a:r>
              <a:t>──────  ─────  ─────────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" y="4663440"/>
            <a:ext cx="4800600" cy="868680"/>
          </a:xfrm>
          <a:prstGeom prst="roundRect">
            <a:avLst/>
          </a:prstGeom>
          <a:solidFill>
            <a:srgbClr val="F2F5F9"/>
          </a:solidFill>
          <a:ln>
            <a:solidFill>
              <a:srgbClr val="8A7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4791455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43A"/>
                </a:solidFill>
                <a:latin typeface="Aptos"/>
              </a:defRPr>
            </a:pPr>
            <a:r>
              <a:t>Profit by Region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5102352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8A79C6"/>
                </a:solidFill>
                <a:latin typeface="Aptos"/>
              </a:defRPr>
            </a:pPr>
            <a:r>
              <a:t>──────  ─────  ─────────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4663440"/>
            <a:ext cx="4754880" cy="868680"/>
          </a:xfrm>
          <a:prstGeom prst="roundRect">
            <a:avLst/>
          </a:prstGeom>
          <a:solidFill>
            <a:srgbClr val="F2F5F9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4791455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43A"/>
                </a:solidFill>
                <a:latin typeface="Aptos"/>
              </a:defRPr>
            </a:pPr>
            <a:r>
              <a:t>Profit vs Discount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1023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4A261"/>
                </a:solidFill>
                <a:latin typeface="Aptos"/>
              </a:defRPr>
            </a:pPr>
            <a:r>
              <a:t>──────  ─────  ─────────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8521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47589"/>
                </a:solidFill>
                <a:latin typeface="Aptos"/>
              </a:defRPr>
            </a:pPr>
            <a:r>
              <a:t>Slicers: Order Date  •  Region  •  Category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43A"/>
                </a:solidFill>
                <a:latin typeface="Aptos"/>
              </a:defRPr>
            </a:pPr>
            <a:r>
              <a:t>Profit Prediction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Random Forest compared with a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777240" cy="50292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73152" cy="1325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BASELINE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29967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67.55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mean absolute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54480"/>
            <a:ext cx="73152" cy="1325880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099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RANDOM FOREST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29967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27.49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4203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lower is better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73152" cy="1325880"/>
          </a:xfrm>
          <a:prstGeom prst="rect">
            <a:avLst/>
          </a:prstGeom>
          <a:solidFill>
            <a:srgbClr val="D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099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589"/>
                </a:solidFill>
                <a:latin typeface="Aptos"/>
              </a:defRPr>
            </a:pPr>
            <a:r>
              <a:t>RANDOM FOREST 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29967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43A"/>
                </a:solidFill>
                <a:latin typeface="Aptos"/>
              </a:defRPr>
            </a:pPr>
            <a:r>
              <a:t>0.036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4203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weak explanatory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43A"/>
                </a:solidFill>
                <a:latin typeface="Aptos"/>
              </a:defRPr>
            </a:pPr>
            <a:r>
              <a:t>Features explored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Sales, quantity and discount</a:t>
            </a:r>
          </a:p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Ship mode, segment and region</a:t>
            </a:r>
          </a:p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Category, sub-category and date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43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033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Random Forest lowered MAE vs baseline</a:t>
            </a:r>
          </a:p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R² is close to zero, so predictive fit is weak</a:t>
            </a:r>
          </a:p>
          <a:p>
            <a:pPr>
              <a:spcAft>
                <a:spcPts val="700"/>
              </a:spcAft>
              <a:defRPr sz="1500" b="0">
                <a:solidFill>
                  <a:srgbClr val="1C2B3D"/>
                </a:solidFill>
                <a:latin typeface="Aptos"/>
              </a:defRPr>
            </a:pPr>
            <a:r>
              <a:t>•  Treat results as exploratory, not production-ready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43A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589"/>
                </a:solidFill>
                <a:latin typeface="Aptos"/>
              </a:defRPr>
            </a:pPr>
            <a:r>
              <a:t>Turn analysis into practical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777240" cy="50292"/>
          </a:xfrm>
          <a:prstGeom prst="rect">
            <a:avLst/>
          </a:prstGeom>
          <a:solidFill>
            <a:srgbClr val="20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58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C2B3D"/>
                </a:solidFill>
                <a:latin typeface="Aptos"/>
              </a:defRPr>
            </a:pPr>
            <a:r>
              <a:t>•  Investigate Furniture profitability by sub-category, discount level and product costs.</a:t>
            </a:r>
          </a:p>
          <a:p>
            <a:pPr>
              <a:spcAft>
                <a:spcPts val="700"/>
              </a:spcAft>
              <a:defRPr sz="1800" b="0">
                <a:solidFill>
                  <a:srgbClr val="1C2B3D"/>
                </a:solidFill>
                <a:latin typeface="Aptos"/>
              </a:defRPr>
            </a:pPr>
            <a:r>
              <a:t>•  Protect the strong profit contribution from Technology and Office Supplies.</a:t>
            </a:r>
          </a:p>
          <a:p>
            <a:pPr>
              <a:spcAft>
                <a:spcPts val="700"/>
              </a:spcAft>
              <a:defRPr sz="1800" b="0">
                <a:solidFill>
                  <a:srgbClr val="1C2B3D"/>
                </a:solidFill>
                <a:latin typeface="Aptos"/>
              </a:defRPr>
            </a:pPr>
            <a:r>
              <a:t>•  Compare regional performance and investigate drivers behind lower-profit regions.</a:t>
            </a:r>
          </a:p>
          <a:p>
            <a:pPr>
              <a:spcAft>
                <a:spcPts val="700"/>
              </a:spcAft>
              <a:defRPr sz="1800" b="0">
                <a:solidFill>
                  <a:srgbClr val="1C2B3D"/>
                </a:solidFill>
                <a:latin typeface="Aptos"/>
              </a:defRPr>
            </a:pPr>
            <a:r>
              <a:t>•  Use dashboard slicers to explore performance by period, category and region.</a:t>
            </a:r>
          </a:p>
          <a:p>
            <a:pPr>
              <a:spcAft>
                <a:spcPts val="700"/>
              </a:spcAft>
              <a:defRPr sz="1800" b="0">
                <a:solidFill>
                  <a:srgbClr val="1C2B3D"/>
                </a:solidFill>
                <a:latin typeface="Aptos"/>
              </a:defRPr>
            </a:pPr>
            <a:r>
              <a:t>•  Improve prediction with richer features and validation on a later time period.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0BFA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From retail transactions to actionable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5176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 Prepared and validated 9,994 transaction records.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 Measured sales, profit, margin, orders, customers and units sold.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 Built a Power BI dashboard for interactive exploration.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 Tested a Random Forest model and documented its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0BFA9"/>
                </a:solidFill>
                <a:latin typeface="Aptos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